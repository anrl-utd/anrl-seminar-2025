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9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9"/>
    <p:restoredTop sz="94725"/>
  </p:normalViewPr>
  <p:slideViewPr>
    <p:cSldViewPr snapToGrid="0">
      <p:cViewPr varScale="1">
        <p:scale>
          <a:sx n="106" d="100"/>
          <a:sy n="106" d="100"/>
        </p:scale>
        <p:origin x="4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2B56F-336F-BC44-9E16-A8D9BDDE4CB7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68C5975-ECE6-DF42-8552-E7CE7CA018C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90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2B56F-336F-BC44-9E16-A8D9BDDE4CB7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C5975-ECE6-DF42-8552-E7CE7CA018CC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600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2B56F-336F-BC44-9E16-A8D9BDDE4CB7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C5975-ECE6-DF42-8552-E7CE7CA018C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39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2B56F-336F-BC44-9E16-A8D9BDDE4CB7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C5975-ECE6-DF42-8552-E7CE7CA018CC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436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2B56F-336F-BC44-9E16-A8D9BDDE4CB7}" type="datetimeFigureOut">
              <a:rPr lang="en-US" smtClean="0"/>
              <a:t>7/9/25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C5975-ECE6-DF42-8552-E7CE7CA018CC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479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2B56F-336F-BC44-9E16-A8D9BDDE4CB7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C5975-ECE6-DF42-8552-E7CE7CA018CC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519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2B56F-336F-BC44-9E16-A8D9BDDE4CB7}" type="datetimeFigureOut">
              <a:rPr lang="en-US" smtClean="0"/>
              <a:t>7/9/25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C5975-ECE6-DF42-8552-E7CE7CA01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911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2B56F-336F-BC44-9E16-A8D9BDDE4CB7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C5975-ECE6-DF42-8552-E7CE7CA018CC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514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ED2B56F-336F-BC44-9E16-A8D9BDDE4CB7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C5975-ECE6-DF42-8552-E7CE7CA018CC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0648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2B56F-336F-BC44-9E16-A8D9BDDE4CB7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C5975-ECE6-DF42-8552-E7CE7CA018CC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2B56F-336F-BC44-9E16-A8D9BDDE4CB7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C5975-ECE6-DF42-8552-E7CE7CA018C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664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2B56F-336F-BC44-9E16-A8D9BDDE4CB7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68C5975-ECE6-DF42-8552-E7CE7CA018C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00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A23A-A6CA-1EE8-CDB1-F789BE1129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600" i="1" dirty="0"/>
              <a:t>Mobility aware and energy-efficient federated deep reinforcement learning assisted resource allocation for 5G-RAN slicing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583034-0D5B-C7E7-9F98-BFE015A1AA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Yaser Azimi, Saleh Yousefi, Hashem </a:t>
            </a:r>
            <a:r>
              <a:rPr lang="en-US" i="1" dirty="0" err="1"/>
              <a:t>Kalbkhani</a:t>
            </a:r>
            <a:r>
              <a:rPr lang="en-US" i="1" dirty="0"/>
              <a:t>, Thomas Kunz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082291-4B04-EAED-9E1A-5D987F899BEC}"/>
              </a:ext>
            </a:extLst>
          </p:cNvPr>
          <p:cNvSpPr txBox="1"/>
          <p:nvPr/>
        </p:nvSpPr>
        <p:spPr>
          <a:xfrm>
            <a:off x="2417779" y="571465"/>
            <a:ext cx="5019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Computer Communications - Jan 2024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7E94C3-148A-FBF6-90F7-83E991F48636}"/>
              </a:ext>
            </a:extLst>
          </p:cNvPr>
          <p:cNvSpPr txBox="1"/>
          <p:nvPr/>
        </p:nvSpPr>
        <p:spPr>
          <a:xfrm>
            <a:off x="9168063" y="5686370"/>
            <a:ext cx="2019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Presenter- Divya K.</a:t>
            </a:r>
          </a:p>
        </p:txBody>
      </p:sp>
    </p:spTree>
    <p:extLst>
      <p:ext uri="{BB962C8B-B14F-4D97-AF65-F5344CB8AC3E}">
        <p14:creationId xmlns:p14="http://schemas.microsoft.com/office/powerpoint/2010/main" val="3643604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9C0B-B356-0F8C-8546-AA37A0330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AEC5F-CDC6-51A4-6857-7CB0410F7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Allocation of power and radio block (RB) resources in a multi-RAN scenario</a:t>
            </a:r>
          </a:p>
          <a:p>
            <a:r>
              <a:rPr lang="en-US" dirty="0"/>
              <a:t>Users of both rate-based and resource-based slices are considered</a:t>
            </a:r>
          </a:p>
          <a:p>
            <a:r>
              <a:rPr lang="en-US" dirty="0"/>
              <a:t>Mobility-aware and energy-efficient federated deep reinforcement learning-assisted resources allocation (ME-FDRL-RA) solutions are proposed</a:t>
            </a:r>
          </a:p>
          <a:p>
            <a:r>
              <a:rPr lang="en-US" dirty="0"/>
              <a:t>Deep learning models considered:</a:t>
            </a:r>
          </a:p>
          <a:p>
            <a:pPr lvl="1"/>
            <a:r>
              <a:rPr lang="en-US" dirty="0"/>
              <a:t>Stacked and bidirectional long-short-term memory (</a:t>
            </a:r>
            <a:r>
              <a:rPr lang="en-US" dirty="0" err="1"/>
              <a:t>SBiLSTM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Allocate resources to slices on a large timescale</a:t>
            </a:r>
          </a:p>
          <a:p>
            <a:pPr lvl="1"/>
            <a:r>
              <a:rPr lang="en-US" dirty="0"/>
              <a:t>Federated advantage actor-critic (F-A2C) allocates resources to a small time-scale </a:t>
            </a:r>
          </a:p>
          <a:p>
            <a:r>
              <a:rPr lang="en-US" dirty="0"/>
              <a:t>For RA, iterative algorithm – Interference-aware and energy-efficient power allocation (IA-EPA)</a:t>
            </a:r>
          </a:p>
          <a:p>
            <a:r>
              <a:rPr lang="en-US" dirty="0"/>
              <a:t>MF-FDRL-RA: Parameters – convergence speed, computational complexity, energy efficiency, number of accepted users</a:t>
            </a:r>
          </a:p>
          <a:p>
            <a:pPr marL="457200" lvl="1" indent="0">
              <a:buNone/>
            </a:pPr>
            <a:r>
              <a:rPr lang="en-US" dirty="0"/>
              <a:t>	        Challenges – User mobility, maintaining degree of inter-slice isolation</a:t>
            </a:r>
          </a:p>
        </p:txBody>
      </p:sp>
    </p:spTree>
    <p:extLst>
      <p:ext uri="{BB962C8B-B14F-4D97-AF65-F5344CB8AC3E}">
        <p14:creationId xmlns:p14="http://schemas.microsoft.com/office/powerpoint/2010/main" val="43701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DA27D-8CC6-40B4-61A5-AA01184E6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9B8C3-6C6A-A21A-15D2-E3C2852B4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 architecture – RRUs + Dus + CU</a:t>
            </a:r>
          </a:p>
          <a:p>
            <a:r>
              <a:rPr lang="en-US" dirty="0"/>
              <a:t>Architectures proposed –</a:t>
            </a:r>
          </a:p>
          <a:p>
            <a:pPr lvl="1"/>
            <a:r>
              <a:rPr lang="en-US" dirty="0"/>
              <a:t>D-RAN</a:t>
            </a:r>
          </a:p>
          <a:p>
            <a:pPr lvl="1"/>
            <a:r>
              <a:rPr lang="en-US" dirty="0"/>
              <a:t>C-RA</a:t>
            </a:r>
          </a:p>
          <a:p>
            <a:pPr lvl="1"/>
            <a:r>
              <a:rPr lang="en-US" dirty="0"/>
              <a:t>O-RAN</a:t>
            </a:r>
          </a:p>
          <a:p>
            <a:pPr lvl="1"/>
            <a:r>
              <a:rPr lang="en-US" dirty="0"/>
              <a:t>F-RAN</a:t>
            </a:r>
          </a:p>
          <a:p>
            <a:pPr lvl="1"/>
            <a:r>
              <a:rPr lang="en-US" dirty="0"/>
              <a:t>v-RAN</a:t>
            </a:r>
          </a:p>
        </p:txBody>
      </p:sp>
      <p:pic>
        <p:nvPicPr>
          <p:cNvPr id="1026" name="Picture 2" descr="D-RAN, C-RAN, vRAN and O-RAN">
            <a:extLst>
              <a:ext uri="{FF2B5EF4-FFF2-40B4-BE49-F238E27FC236}">
                <a16:creationId xmlns:a16="http://schemas.microsoft.com/office/drawing/2014/main" id="{6C094A8A-844A-550A-41B5-C34037873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132551"/>
            <a:ext cx="6096000" cy="3709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CU-DU Function Split? - Moniem-Tech">
            <a:extLst>
              <a:ext uri="{FF2B5EF4-FFF2-40B4-BE49-F238E27FC236}">
                <a16:creationId xmlns:a16="http://schemas.microsoft.com/office/drawing/2014/main" id="{0C85157C-50DD-AE6F-28DF-DA8D952F1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032" y="178799"/>
            <a:ext cx="3169860" cy="2953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360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C5698-7AD0-BCA5-09F2-912232FA1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A260A-5FFE-3C69-1DF2-1783582EA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7536010" cy="34506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Assumptions – RANs have identical </a:t>
            </a:r>
            <a:r>
              <a:rPr lang="en-US" dirty="0" err="1"/>
              <a:t>no.of</a:t>
            </a:r>
            <a:r>
              <a:rPr lang="en-US" dirty="0"/>
              <a:t> slices and computational resources</a:t>
            </a:r>
          </a:p>
          <a:p>
            <a:r>
              <a:rPr lang="en-US" dirty="0"/>
              <a:t>Distributed RAN with O-RAN architecture where DU and CU are centralized in BBU</a:t>
            </a:r>
          </a:p>
          <a:p>
            <a:r>
              <a:rPr lang="en-US" dirty="0"/>
              <a:t>DU responsible for running RA algorithms</a:t>
            </a:r>
          </a:p>
          <a:p>
            <a:r>
              <a:rPr lang="en-US" dirty="0"/>
              <a:t>DU controllers communicate via orchestrator layer</a:t>
            </a:r>
          </a:p>
          <a:p>
            <a:r>
              <a:rPr lang="en-US" dirty="0"/>
              <a:t>CU runs aggregator using obtained data from agents to increase convergence speed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6A8BE7-8F88-F92A-809C-8A418FF6B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698" y="0"/>
            <a:ext cx="29653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098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8B7F-95DD-16B7-CA0E-B18B54D74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C7826-F999-FB90-BBD4-8D67E4475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Fixed users and mobile users</a:t>
            </a:r>
          </a:p>
          <a:p>
            <a:r>
              <a:rPr lang="en-US" dirty="0"/>
              <a:t>Mobile users' movement model based on SWIM</a:t>
            </a:r>
          </a:p>
          <a:p>
            <a:r>
              <a:rPr lang="en-US" dirty="0"/>
              <a:t>Weight of destination cell C from home cell A –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CCEFF-B675-B7FE-60FF-02ADD1E3B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448" y="3549869"/>
            <a:ext cx="6255696" cy="420551"/>
          </a:xfrm>
          <a:prstGeom prst="rect">
            <a:avLst/>
          </a:prstGeom>
        </p:spPr>
      </p:pic>
      <p:pic>
        <p:nvPicPr>
          <p:cNvPr id="7" name="Picture 6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65A7C5AF-A69B-C5D9-4227-A02C2E3BE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448" y="4132398"/>
            <a:ext cx="3173960" cy="54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350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9BDFC-EE41-F656-2D04-F55BB2A00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 and formulation of 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3CEB3-D86F-342B-6762-5B2E21128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1 – Resource Slicing with Mobility Awareness on a Large Time-Scale</a:t>
            </a:r>
          </a:p>
          <a:p>
            <a:pPr lvl="1"/>
            <a:r>
              <a:rPr lang="en-US" dirty="0"/>
              <a:t>Mobile and fixed users’ traffic – predict required resources for next PW</a:t>
            </a:r>
          </a:p>
          <a:p>
            <a:pPr lvl="1"/>
            <a:r>
              <a:rPr lang="en-US" dirty="0"/>
              <a:t>Meet QoS requirements</a:t>
            </a:r>
          </a:p>
          <a:p>
            <a:pPr lvl="1"/>
            <a:r>
              <a:rPr lang="en-US" dirty="0"/>
              <a:t>Minimize the error - MSE</a:t>
            </a:r>
          </a:p>
          <a:p>
            <a:pPr lvl="1"/>
            <a:endParaRPr lang="en-US" dirty="0"/>
          </a:p>
        </p:txBody>
      </p:sp>
      <p:pic>
        <p:nvPicPr>
          <p:cNvPr id="5" name="Picture 4" descr="A group of mathematical symbols&#10;&#10;AI-generated content may be incorrect.">
            <a:extLst>
              <a:ext uri="{FF2B5EF4-FFF2-40B4-BE49-F238E27FC236}">
                <a16:creationId xmlns:a16="http://schemas.microsoft.com/office/drawing/2014/main" id="{13226698-9205-366B-D63E-6F4392A11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237" y="3741037"/>
            <a:ext cx="5047390" cy="188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98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80322-4BBB-3B25-0E79-581550F7E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C64FE-131B-8AA6-6890-C36600871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 and formulation of 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78B24-51F1-56FA-6B2D-6806F6C9E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2 – Resource Allocation to Users Per Slice on a Small Time-Scale</a:t>
            </a:r>
          </a:p>
          <a:p>
            <a:pPr lvl="1"/>
            <a:r>
              <a:rPr lang="en-US" dirty="0"/>
              <a:t>Online resource allocation</a:t>
            </a:r>
          </a:p>
          <a:p>
            <a:pPr lvl="1"/>
            <a:r>
              <a:rPr lang="en-US" dirty="0"/>
              <a:t>Control unpredicted traffic changes on large time-scale</a:t>
            </a:r>
          </a:p>
          <a:p>
            <a:pPr lvl="1"/>
            <a:r>
              <a:rPr lang="en-US" dirty="0"/>
              <a:t>Difference between amount of allocated resources before and after resource reconfiguration per slice –</a:t>
            </a:r>
          </a:p>
          <a:p>
            <a:pPr lvl="1"/>
            <a:r>
              <a:rPr lang="en-US" dirty="0"/>
              <a:t>Problem formulated -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DE16B0-C1E5-803B-9AEF-CC29A4633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388" y="3620388"/>
            <a:ext cx="2745011" cy="325970"/>
          </a:xfrm>
          <a:prstGeom prst="rect">
            <a:avLst/>
          </a:prstGeom>
        </p:spPr>
      </p:pic>
      <p:pic>
        <p:nvPicPr>
          <p:cNvPr id="8" name="Picture 7" descr="A group of letters and numbers&#10;&#10;AI-generated content may be incorrect.">
            <a:extLst>
              <a:ext uri="{FF2B5EF4-FFF2-40B4-BE49-F238E27FC236}">
                <a16:creationId xmlns:a16="http://schemas.microsoft.com/office/drawing/2014/main" id="{1B09E58F-A50E-EE56-4D5C-108A94579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828" y="4414251"/>
            <a:ext cx="2440643" cy="819486"/>
          </a:xfrm>
          <a:prstGeom prst="rect">
            <a:avLst/>
          </a:prstGeom>
        </p:spPr>
      </p:pic>
      <p:pic>
        <p:nvPicPr>
          <p:cNvPr id="10" name="Picture 9" descr="A group of black and white symbols&#10;&#10;AI-generated content may be incorrect.">
            <a:extLst>
              <a:ext uri="{FF2B5EF4-FFF2-40B4-BE49-F238E27FC236}">
                <a16:creationId xmlns:a16="http://schemas.microsoft.com/office/drawing/2014/main" id="{B0C45B35-DCEC-2726-B562-05ACB4E97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181" y="4229099"/>
            <a:ext cx="3072966" cy="182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687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21FE5-7240-849A-0AD9-D27C306EE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 and formulation of 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6E412-392C-F939-4CFD-6223E359A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3 – Determining the Required Resources for Users of Slices</a:t>
            </a:r>
          </a:p>
          <a:p>
            <a:pPr lvl="1"/>
            <a:r>
              <a:rPr lang="en-US" dirty="0"/>
              <a:t>Users’ resources in rate-based slice</a:t>
            </a:r>
          </a:p>
          <a:p>
            <a:pPr lvl="1"/>
            <a:r>
              <a:rPr lang="en-US" dirty="0"/>
              <a:t>Increase energy efficiency, spectrum efficiency, improve QoS of users</a:t>
            </a:r>
          </a:p>
          <a:p>
            <a:pPr lvl="1"/>
            <a:r>
              <a:rPr lang="en-US" dirty="0"/>
              <a:t>Considering channel conditions such as inter-RAN interference and user mobility</a:t>
            </a:r>
          </a:p>
          <a:p>
            <a:pPr lvl="1"/>
            <a:endParaRPr lang="en-US" dirty="0"/>
          </a:p>
        </p:txBody>
      </p:sp>
      <p:pic>
        <p:nvPicPr>
          <p:cNvPr id="5" name="Picture 4" descr="A black and white math symbols&#10;&#10;AI-generated content may be incorrect.">
            <a:extLst>
              <a:ext uri="{FF2B5EF4-FFF2-40B4-BE49-F238E27FC236}">
                <a16:creationId xmlns:a16="http://schemas.microsoft.com/office/drawing/2014/main" id="{DE72FCCC-E1B5-07CC-8C2A-C3A301DBE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581" y="3741037"/>
            <a:ext cx="5084493" cy="1324257"/>
          </a:xfrm>
          <a:prstGeom prst="rect">
            <a:avLst/>
          </a:prstGeom>
        </p:spPr>
      </p:pic>
      <p:pic>
        <p:nvPicPr>
          <p:cNvPr id="7" name="Picture 6" descr="A math equations and symbols&#10;&#10;AI-generated content may be incorrect.">
            <a:extLst>
              <a:ext uri="{FF2B5EF4-FFF2-40B4-BE49-F238E27FC236}">
                <a16:creationId xmlns:a16="http://schemas.microsoft.com/office/drawing/2014/main" id="{EE153047-4E36-812F-D832-9B9D887F2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139" y="5221923"/>
            <a:ext cx="35433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03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9347A-DADD-B9CF-0879-CCB40CBBB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609F0-A2C5-6FC9-4102-9C6D3E12C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889DC-D846-1933-BE2E-0278FDB1A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ME-FDRL-RA components –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78A9AC-0B5C-1F63-74D8-FD60F964A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793" y="0"/>
            <a:ext cx="63062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263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9F0A4-20D5-2D66-A37C-9CA124471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9D6DD-4CB6-7E2F-933B-68C04A600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7974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ME-FDRL-RA components –</a:t>
            </a:r>
          </a:p>
          <a:p>
            <a:pPr lvl="1"/>
            <a:r>
              <a:rPr lang="en-US" dirty="0"/>
              <a:t>DU-Controllers: Runs DRL, </a:t>
            </a:r>
            <a:r>
              <a:rPr lang="en-US" dirty="0" err="1"/>
              <a:t>SBiLSTM</a:t>
            </a:r>
            <a:r>
              <a:rPr lang="en-US" dirty="0"/>
              <a:t>, IA-EPA algorithms, assigns power and radio resources</a:t>
            </a:r>
          </a:p>
          <a:p>
            <a:pPr lvl="1"/>
            <a:r>
              <a:rPr lang="en-US" dirty="0"/>
              <a:t>Orchestrator: exchange information (CSI and user Mobility)</a:t>
            </a:r>
          </a:p>
          <a:p>
            <a:pPr lvl="1"/>
            <a:r>
              <a:rPr lang="en-US" dirty="0"/>
              <a:t>Parallel F-A2Cs for set of slices per RAN: each RAN slice represents an F-A2c agent</a:t>
            </a:r>
          </a:p>
          <a:p>
            <a:pPr lvl="1"/>
            <a:r>
              <a:rPr lang="en-US" dirty="0"/>
              <a:t>Shared account book for each RAN: each RAN shares info related to current PW and previous PW to estimate allocated resources for next PW</a:t>
            </a:r>
          </a:p>
          <a:p>
            <a:pPr lvl="1"/>
            <a:r>
              <a:rPr lang="en-US" dirty="0"/>
              <a:t>IA-EPA method: iterative method to find optimal answer by considering the channel conditions and energy efficiency</a:t>
            </a:r>
          </a:p>
          <a:p>
            <a:pPr lvl="1"/>
            <a:r>
              <a:rPr lang="en-US" dirty="0" err="1"/>
              <a:t>SBiLSTM</a:t>
            </a:r>
            <a:r>
              <a:rPr lang="en-US" dirty="0"/>
              <a:t> model for each slice in each RAN: to guarantee isolation among slices</a:t>
            </a:r>
          </a:p>
          <a:p>
            <a:pPr lvl="1"/>
            <a:r>
              <a:rPr lang="en-US" dirty="0"/>
              <a:t>Global Aggregator for F-A2Cs: to increase the convergence speed and improve F-A2C agents' decisions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853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24DAB-4B9F-BE71-0B5C-2B43C91D5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77C34-C03C-329B-D5B9-441258B15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Large time-scale prediction</a:t>
            </a:r>
          </a:p>
          <a:p>
            <a:pPr lvl="1"/>
            <a:r>
              <a:rPr lang="en-US" dirty="0"/>
              <a:t>Track total traffic of fixed and mobile users in each time step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Sum of required resources for fixed users and mobile users of slice m in RAN b – input data for the prediction of allocated resources in slice m of Ran b in next PW</a:t>
            </a:r>
          </a:p>
          <a:p>
            <a:pPr lvl="1"/>
            <a:r>
              <a:rPr lang="en-US" dirty="0"/>
              <a:t>Confidence intervals, sample mean, and standard deviation of predicted values is calculated</a:t>
            </a:r>
          </a:p>
          <a:p>
            <a:pPr lvl="1"/>
            <a:r>
              <a:rPr lang="en-US" dirty="0"/>
              <a:t>Dynamically tuned during simulation</a:t>
            </a:r>
          </a:p>
          <a:p>
            <a:pPr lvl="1"/>
            <a:r>
              <a:rPr lang="en-US" dirty="0"/>
              <a:t>Upper bound for confidence interval is applied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8CF8CC-BDE2-7947-DFEA-7BA634BBC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899" y="2892258"/>
            <a:ext cx="7392401" cy="53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637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6AD5E-050C-2B11-3BD9-D29DCF266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ECF50-8508-5BE8-0A65-202112265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6332853" cy="3450613"/>
          </a:xfrm>
        </p:spPr>
        <p:txBody>
          <a:bodyPr/>
          <a:lstStyle/>
          <a:p>
            <a:r>
              <a:rPr lang="en-US" dirty="0"/>
              <a:t>Interference Aware and Energy-efficient Power Allocation (IA-EPA)</a:t>
            </a:r>
          </a:p>
          <a:p>
            <a:pPr lvl="1"/>
            <a:r>
              <a:rPr lang="en-US" dirty="0"/>
              <a:t>Gradient-descent-based sub-optimal method</a:t>
            </a:r>
          </a:p>
          <a:p>
            <a:pPr lvl="1"/>
            <a:r>
              <a:rPr lang="en-US" dirty="0"/>
              <a:t>Trade-off between the achievable rate and power consumption while considering interference caused by other transmitters</a:t>
            </a:r>
          </a:p>
          <a:p>
            <a:pPr lvl="1"/>
            <a:r>
              <a:rPr lang="en-US" dirty="0"/>
              <a:t>2 subproblems –</a:t>
            </a:r>
          </a:p>
          <a:p>
            <a:pPr lvl="2"/>
            <a:r>
              <a:rPr lang="en-US" dirty="0"/>
              <a:t>Minimum </a:t>
            </a:r>
            <a:r>
              <a:rPr lang="en-US" dirty="0" err="1"/>
              <a:t>no.of</a:t>
            </a:r>
            <a:r>
              <a:rPr lang="en-US" dirty="0"/>
              <a:t> idle RB</a:t>
            </a:r>
          </a:p>
          <a:p>
            <a:pPr lvl="2"/>
            <a:r>
              <a:rPr lang="en-US" dirty="0"/>
              <a:t>Minimum amount of power to maximize energy efficiency</a:t>
            </a:r>
          </a:p>
        </p:txBody>
      </p:sp>
      <p:pic>
        <p:nvPicPr>
          <p:cNvPr id="5" name="Picture 4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2FF20B4F-E038-B32B-7DB9-7959125E2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095" y="614501"/>
            <a:ext cx="4154905" cy="623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79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B4895-6117-E36F-F25F-04708E376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923-10C4-C5E2-FCD9-F4C5B773A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Samll</a:t>
            </a:r>
            <a:r>
              <a:rPr lang="en-US" dirty="0"/>
              <a:t> time-scale prediction</a:t>
            </a:r>
          </a:p>
          <a:p>
            <a:pPr lvl="1"/>
            <a:r>
              <a:rPr lang="en-US" dirty="0"/>
              <a:t>Uses F-A2C for RA on small time-scale for each slice</a:t>
            </a:r>
          </a:p>
          <a:p>
            <a:pPr lvl="1"/>
            <a:r>
              <a:rPr lang="en-US" dirty="0"/>
              <a:t>Model – </a:t>
            </a:r>
          </a:p>
          <a:p>
            <a:pPr lvl="1"/>
            <a:r>
              <a:rPr lang="en-US" dirty="0"/>
              <a:t>Each slice makes the decision on RA</a:t>
            </a:r>
          </a:p>
          <a:p>
            <a:pPr lvl="1"/>
            <a:r>
              <a:rPr lang="en-US" dirty="0"/>
              <a:t>Accept/Reject new user is independent to other slices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02181B-FE37-C7FD-133C-3F5A4FF4C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379" y="2929690"/>
            <a:ext cx="2292687" cy="29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338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D5F85-DDE7-2AAD-D2E7-27D31F35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AA748-ED68-7B4D-E37B-F6EC4F26D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E8116-BA5F-640B-C7ED-DF79C6B2A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Scalability Assessment and Signaling Overhead</a:t>
            </a:r>
          </a:p>
          <a:p>
            <a:pPr lvl="1"/>
            <a:r>
              <a:rPr lang="en-US" dirty="0"/>
              <a:t>Each RAN is managed by a DU</a:t>
            </a:r>
          </a:p>
          <a:p>
            <a:pPr lvl="1"/>
            <a:r>
              <a:rPr lang="en-US" dirty="0"/>
              <a:t>Each DU-Controller executes RA algorithm, includes F-A2C agents, IE-EPA methods, </a:t>
            </a:r>
            <a:r>
              <a:rPr lang="en-US" dirty="0" err="1"/>
              <a:t>SBiLSTM</a:t>
            </a:r>
            <a:r>
              <a:rPr lang="en-US" dirty="0"/>
              <a:t> models for each RAN</a:t>
            </a:r>
          </a:p>
          <a:p>
            <a:pPr lvl="1"/>
            <a:r>
              <a:rPr lang="en-US" dirty="0"/>
              <a:t>Each Slice has 2 F-A2C agent, IA-EPA method, </a:t>
            </a:r>
            <a:r>
              <a:rPr lang="en-US" dirty="0" err="1"/>
              <a:t>SBiLSTM</a:t>
            </a:r>
            <a:r>
              <a:rPr lang="en-US" dirty="0"/>
              <a:t> model</a:t>
            </a:r>
          </a:p>
          <a:p>
            <a:pPr lvl="1"/>
            <a:r>
              <a:rPr lang="en-US" dirty="0"/>
              <a:t>Deployment scenarios:</a:t>
            </a:r>
          </a:p>
          <a:p>
            <a:pPr lvl="2"/>
            <a:r>
              <a:rPr lang="en-US" dirty="0"/>
              <a:t>Case 1 – Single system/multiple threads </a:t>
            </a:r>
          </a:p>
          <a:p>
            <a:pPr lvl="2"/>
            <a:r>
              <a:rPr lang="en-US" dirty="0"/>
              <a:t>Case 2 – Multiple systems/multiple threads </a:t>
            </a:r>
          </a:p>
          <a:p>
            <a:pPr lvl="2"/>
            <a:r>
              <a:rPr lang="en-US" dirty="0"/>
              <a:t>Case 3 – single system/single thread</a:t>
            </a:r>
          </a:p>
        </p:txBody>
      </p:sp>
    </p:spTree>
    <p:extLst>
      <p:ext uri="{BB962C8B-B14F-4D97-AF65-F5344CB8AC3E}">
        <p14:creationId xmlns:p14="http://schemas.microsoft.com/office/powerpoint/2010/main" val="1378405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A3CAB-93D6-1512-BDD1-E14DE7185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9E856-6228-8B02-59F7-44CE09C92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Multi-Ran: 4 RANs</a:t>
            </a:r>
          </a:p>
          <a:p>
            <a:r>
              <a:rPr lang="en-US" dirty="0"/>
              <a:t>Slice m of RAN b arrival and departure rates: </a:t>
            </a:r>
            <a:r>
              <a:rPr lang="en-US" i="1" dirty="0"/>
              <a:t>𝜆[𝑚, 𝑏] and 𝜇[𝑚, 𝑏].</a:t>
            </a:r>
            <a:endParaRPr lang="en-US" dirty="0"/>
          </a:p>
          <a:p>
            <a:r>
              <a:rPr lang="en-US" dirty="0"/>
              <a:t>Requests assigned by FIFO policy</a:t>
            </a:r>
          </a:p>
          <a:p>
            <a:r>
              <a:rPr lang="en-US" dirty="0"/>
              <a:t>Fixed total number of users for mobility model</a:t>
            </a:r>
          </a:p>
          <a:p>
            <a:r>
              <a:rPr lang="en-US" dirty="0"/>
              <a:t>In F-A2C, rejection penalty is twice as isolation violation penalty</a:t>
            </a:r>
          </a:p>
          <a:p>
            <a:r>
              <a:rPr lang="en-US" dirty="0"/>
              <a:t>10 slices of RAN: 4 – resource-based, 6 – rate-based</a:t>
            </a:r>
          </a:p>
          <a:p>
            <a:r>
              <a:rPr lang="en-US" dirty="0"/>
              <a:t>FDRL uses 4 agents</a:t>
            </a:r>
          </a:p>
          <a:p>
            <a:r>
              <a:rPr lang="en-US" dirty="0"/>
              <a:t>Simulation includes 48000 time steps, PW – 1200 time steps</a:t>
            </a:r>
          </a:p>
          <a:p>
            <a:r>
              <a:rPr lang="en-US" dirty="0"/>
              <a:t>Each RAN has 200 users</a:t>
            </a:r>
          </a:p>
        </p:txBody>
      </p:sp>
    </p:spTree>
    <p:extLst>
      <p:ext uri="{BB962C8B-B14F-4D97-AF65-F5344CB8AC3E}">
        <p14:creationId xmlns:p14="http://schemas.microsoft.com/office/powerpoint/2010/main" val="1797606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4BEE4-9FD7-FBF7-902A-A9CF64D44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pic>
        <p:nvPicPr>
          <p:cNvPr id="5" name="Content Placeholder 4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1F54039D-C426-3E40-27BC-F12AB6C1A7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5958" y="1992062"/>
            <a:ext cx="8691042" cy="4061419"/>
          </a:xfrm>
        </p:spPr>
      </p:pic>
    </p:spTree>
    <p:extLst>
      <p:ext uri="{BB962C8B-B14F-4D97-AF65-F5344CB8AC3E}">
        <p14:creationId xmlns:p14="http://schemas.microsoft.com/office/powerpoint/2010/main" val="994027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DCCD3-6D19-591A-945C-45CDF964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9A650-CF74-73AF-94B1-106502136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Competitive methods –</a:t>
            </a:r>
          </a:p>
          <a:p>
            <a:pPr lvl="1"/>
            <a:r>
              <a:rPr lang="en-US" dirty="0"/>
              <a:t>Extended EE-DRL-RA</a:t>
            </a:r>
          </a:p>
          <a:p>
            <a:pPr lvl="1"/>
            <a:r>
              <a:rPr lang="en-US" dirty="0"/>
              <a:t>Extended </a:t>
            </a:r>
            <a:r>
              <a:rPr lang="en-US" dirty="0" err="1"/>
              <a:t>iRSS</a:t>
            </a:r>
            <a:endParaRPr lang="en-US" dirty="0"/>
          </a:p>
          <a:p>
            <a:pPr lvl="1"/>
            <a:r>
              <a:rPr lang="en-US" dirty="0"/>
              <a:t>E-FDRL-RA</a:t>
            </a:r>
          </a:p>
          <a:p>
            <a:pPr lvl="1"/>
            <a:r>
              <a:rPr lang="en-US" dirty="0"/>
              <a:t>ME-DRL-RA</a:t>
            </a:r>
          </a:p>
          <a:p>
            <a:pPr lvl="1"/>
            <a:r>
              <a:rPr lang="en-US"/>
              <a:t>Static 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729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309A9-F69F-5ABA-12E3-605FA9314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958CAA-0316-8015-8BA7-02C510417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6658" y="2016125"/>
            <a:ext cx="6953008" cy="34496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05454C-A8AC-B71A-DF41-75423397374C}"/>
              </a:ext>
            </a:extLst>
          </p:cNvPr>
          <p:cNvSpPr txBox="1"/>
          <p:nvPr/>
        </p:nvSpPr>
        <p:spPr>
          <a:xfrm>
            <a:off x="3489158" y="5628134"/>
            <a:ext cx="6020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Traffic prediction accuracy for </a:t>
            </a:r>
            <a:r>
              <a:rPr lang="en-US" i="1" dirty="0" err="1"/>
              <a:t>SBiLSTM</a:t>
            </a:r>
            <a:r>
              <a:rPr lang="en-US" i="1" dirty="0"/>
              <a:t> model on a large time-scale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995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0DD2F-6BB5-3F42-B233-116D8672A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D5504-0EB8-43F5-B3C0-9FCD67E12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E970A3-1E9D-C1E8-DD36-1F557DCCE4CC}"/>
              </a:ext>
            </a:extLst>
          </p:cNvPr>
          <p:cNvSpPr txBox="1"/>
          <p:nvPr/>
        </p:nvSpPr>
        <p:spPr>
          <a:xfrm>
            <a:off x="3080085" y="5628134"/>
            <a:ext cx="6546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Convergence speed for the compared methods in the multi-RAN scenario.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929A939-2919-5E1B-1E69-ED332B5149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0558" y="2016125"/>
            <a:ext cx="5885209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900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1A79-E948-8FF7-8F57-0CF905CDF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C2236-E219-9643-2F75-8D124C94A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71C3D9-336C-CEC4-5540-64C75F039B7A}"/>
              </a:ext>
            </a:extLst>
          </p:cNvPr>
          <p:cNvSpPr txBox="1"/>
          <p:nvPr/>
        </p:nvSpPr>
        <p:spPr>
          <a:xfrm>
            <a:off x="2394285" y="5628134"/>
            <a:ext cx="848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Energy efficiency versus number of iterations with different transmission rates in IA-EPA method.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D0827AF-1217-E8E9-72B4-2B7FF11D8D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4109" y="2016125"/>
            <a:ext cx="5718107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655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36409-D14E-8BB8-2E33-8DD620735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64FD2-E6AD-04BC-F234-2293DC1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E253BE-8B07-7B9D-D2E3-0DB9DC107AE1}"/>
              </a:ext>
            </a:extLst>
          </p:cNvPr>
          <p:cNvSpPr txBox="1"/>
          <p:nvPr/>
        </p:nvSpPr>
        <p:spPr>
          <a:xfrm>
            <a:off x="3162664" y="5628133"/>
            <a:ext cx="5866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(a) Total energy efficiency (b) Average user acceptance percentage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F8DC95-AAE5-9719-6098-F5E70B0D64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0975" y="2129820"/>
            <a:ext cx="9604375" cy="322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917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54661-C6FB-34EB-9321-97623C3FD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07F08-D957-77D1-698E-CB806BC9E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1CCA8-3A28-0FA8-5C6A-C7DD7EF5E3A4}"/>
              </a:ext>
            </a:extLst>
          </p:cNvPr>
          <p:cNvSpPr txBox="1"/>
          <p:nvPr/>
        </p:nvSpPr>
        <p:spPr>
          <a:xfrm>
            <a:off x="3600284" y="5628133"/>
            <a:ext cx="4991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(a) Utilization of slices (b) Isolation degree among slices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B3C1483-F026-B1A7-D076-B8AD47E301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0975" y="2141945"/>
            <a:ext cx="9604375" cy="319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832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F7757-FEDE-97C7-ED91-E9E6AE9A2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A516B-7014-25D6-0EC0-1DF364C62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02E2F6-9978-EF99-CFAA-7AF29957CAF9}"/>
              </a:ext>
            </a:extLst>
          </p:cNvPr>
          <p:cNvSpPr txBox="1"/>
          <p:nvPr/>
        </p:nvSpPr>
        <p:spPr>
          <a:xfrm>
            <a:off x="3137148" y="5628134"/>
            <a:ext cx="6232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effect of confidence level on isolation degree in a large time-scale.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B8A3C80-3D80-EB2A-D4E8-7061481893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0558" y="2016125"/>
            <a:ext cx="5885209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795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6CFCB-1CB7-0FA4-1B10-EC18BBD67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6B201-5005-3292-B74A-4814C6F7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45C7A1-9E94-918F-66BD-E84D88D29277}"/>
              </a:ext>
            </a:extLst>
          </p:cNvPr>
          <p:cNvSpPr txBox="1"/>
          <p:nvPr/>
        </p:nvSpPr>
        <p:spPr>
          <a:xfrm>
            <a:off x="528833" y="5623832"/>
            <a:ext cx="4736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effect of SWIM mobility degree in ME-FDRL-RA.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397537-9BE6-4250-64F0-3713A3310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106307"/>
            <a:ext cx="5793965" cy="34496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AB2B9F-2E2A-12BF-8E57-3B5517737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216" y="2106307"/>
            <a:ext cx="5793965" cy="34674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505FFD-A5BD-A351-6A5C-62AAC776082A}"/>
              </a:ext>
            </a:extLst>
          </p:cNvPr>
          <p:cNvSpPr txBox="1"/>
          <p:nvPr/>
        </p:nvSpPr>
        <p:spPr>
          <a:xfrm>
            <a:off x="6096000" y="5665170"/>
            <a:ext cx="581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effect of the number of human mobile users in ME-FDRL-RA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22965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231</TotalTime>
  <Words>929</Words>
  <Application>Microsoft Macintosh PowerPoint</Application>
  <PresentationFormat>Widescreen</PresentationFormat>
  <Paragraphs>124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Gill Sans MT</vt:lpstr>
      <vt:lpstr>Gallery</vt:lpstr>
      <vt:lpstr>Mobility aware and energy-efficient federated deep reinforcement learning assisted resource allocation for 5G-RAN slicing</vt:lpstr>
      <vt:lpstr>Abstract</vt:lpstr>
      <vt:lpstr>Introduction</vt:lpstr>
      <vt:lpstr>System Model</vt:lpstr>
      <vt:lpstr>System Model</vt:lpstr>
      <vt:lpstr>Problem definition and formulation of RA</vt:lpstr>
      <vt:lpstr>Problem definition and formulation of RA</vt:lpstr>
      <vt:lpstr>Problem definition and formulation of RA</vt:lpstr>
      <vt:lpstr>Proposed Solutions</vt:lpstr>
      <vt:lpstr>Proposed Solutions</vt:lpstr>
      <vt:lpstr>Proposed Solutions</vt:lpstr>
      <vt:lpstr>Proposed Solutions</vt:lpstr>
      <vt:lpstr>Proposed Solutions</vt:lpstr>
      <vt:lpstr>Proposed Solutions</vt:lpstr>
      <vt:lpstr>Simulation results</vt:lpstr>
      <vt:lpstr>Simulation results</vt:lpstr>
      <vt:lpstr>Simulation results</vt:lpstr>
      <vt:lpstr>Simulation results</vt:lpstr>
      <vt:lpstr>Simulation results</vt:lpstr>
      <vt:lpstr>Simulation results</vt:lpstr>
      <vt:lpstr>Simulation results</vt:lpstr>
      <vt:lpstr>Simulation results</vt:lpstr>
      <vt:lpstr>Simulation results</vt:lpstr>
      <vt:lpstr>Simulation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Khanure, Divya</dc:creator>
  <cp:lastModifiedBy>Khanure, Divya</cp:lastModifiedBy>
  <cp:revision>1</cp:revision>
  <dcterms:created xsi:type="dcterms:W3CDTF">2025-07-09T18:06:40Z</dcterms:created>
  <dcterms:modified xsi:type="dcterms:W3CDTF">2025-07-09T21:58:24Z</dcterms:modified>
</cp:coreProperties>
</file>